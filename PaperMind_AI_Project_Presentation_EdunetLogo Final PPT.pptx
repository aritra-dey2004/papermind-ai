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7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68" r:id="rId12"/>
    <p:sldId id="2146847055" r:id="rId13"/>
    <p:sldId id="269" r:id="rId14"/>
    <p:sldId id="2146847058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466EFC-1F62-CA2C-07B1-96111B302B1B}" v="154" dt="2023-11-22T13:37:01.483"/>
    <p1510:client id="{47C7BCB7-7546-3717-E035-B2126C89CD1A}" v="2" dt="2023-11-22T12:55:27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6/16/2026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6/16/2026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6/16/2026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6/16/2026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6/16/2026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6/16/2026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info.arxiv.org/help/api/user-manual.html" TargetMode="External"/><Relationship Id="rId3" Type="http://schemas.openxmlformats.org/officeDocument/2006/relationships/hyperlink" Target="https://faiss.ai/" TargetMode="External"/><Relationship Id="rId7" Type="http://schemas.openxmlformats.org/officeDocument/2006/relationships/hyperlink" Target="https://ollama.com/" TargetMode="External"/><Relationship Id="rId2" Type="http://schemas.openxmlformats.org/officeDocument/2006/relationships/hyperlink" Target="https://streamlit.io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nsole.groq.com/docs/overview" TargetMode="External"/><Relationship Id="rId5" Type="http://schemas.openxmlformats.org/officeDocument/2006/relationships/hyperlink" Target="https://ai.google.dev/gemini-api/docs" TargetMode="External"/><Relationship Id="rId10" Type="http://schemas.openxmlformats.org/officeDocument/2006/relationships/image" Target="../media/image1.png"/><Relationship Id="rId4" Type="http://schemas.openxmlformats.org/officeDocument/2006/relationships/hyperlink" Target="https://sbert.net/" TargetMode="External"/><Relationship Id="rId9" Type="http://schemas.openxmlformats.org/officeDocument/2006/relationships/hyperlink" Target="https://python-pptx.readthedocs.io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Aritra-Dey2004/PaperMind-AI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723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09181" y="2008639"/>
            <a:ext cx="3657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</a:defRPr>
            </a:pPr>
            <a:r>
              <a:rPr sz="4400" dirty="0" err="1"/>
              <a:t>PaperMind</a:t>
            </a:r>
            <a:r>
              <a:rPr sz="4400" dirty="0"/>
              <a:t>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3703320"/>
            <a:ext cx="67208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3227540"/>
            <a:ext cx="9073662" cy="212365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1F2937"/>
                </a:solidFill>
              </a:defRPr>
            </a:pPr>
            <a:r>
              <a:rPr sz="2400" b="1" dirty="0"/>
              <a:t>Presented by: Aritra Dey</a:t>
            </a:r>
            <a:endParaRPr lang="en-IN" sz="2400" b="1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1F2937"/>
                </a:solidFill>
              </a:defRPr>
            </a:pPr>
            <a:r>
              <a:rPr sz="2400" b="1" dirty="0"/>
              <a:t>College: MCKV Institute of Engineering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1F2937"/>
                </a:solidFill>
              </a:defRPr>
            </a:pPr>
            <a:r>
              <a:rPr sz="2400" b="1" dirty="0"/>
              <a:t>Department: CSE / Data</a:t>
            </a:r>
            <a:r>
              <a:rPr lang="en-IN" sz="2400" b="1" dirty="0"/>
              <a:t>-</a:t>
            </a:r>
            <a:r>
              <a:rPr sz="2400" b="1" dirty="0" err="1"/>
              <a:t>Scienc</a:t>
            </a:r>
            <a:r>
              <a:rPr lang="en-IN" sz="2400" b="1" dirty="0"/>
              <a:t>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1F2937"/>
                </a:solidFill>
              </a:defRPr>
            </a:pPr>
            <a:r>
              <a:rPr lang="en-IN" sz="2400" b="1" dirty="0"/>
              <a:t>AICTE Student Registration Id:  STU69cd69923b5331775069586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PaperMind AI | GenAI Research Paper Assistant | 1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317040"/>
            <a:ext cx="1325880" cy="43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Outline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Project presentation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08760"/>
            <a:ext cx="52120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167128"/>
            <a:ext cx="4754880" cy="1708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  <a:defRPr sz="1700">
                <a:solidFill>
                  <a:srgbClr val="1F2937"/>
                </a:solidFill>
              </a:defRPr>
            </a:pPr>
            <a:r>
              <a:rPr b="1" dirty="0"/>
              <a:t> Problem Statement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  <a:defRPr sz="1700">
                <a:solidFill>
                  <a:srgbClr val="1F2937"/>
                </a:solidFill>
              </a:defRPr>
            </a:pPr>
            <a:r>
              <a:rPr b="1" dirty="0"/>
              <a:t> Proposed System / Solution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  <a:defRPr sz="1700">
                <a:solidFill>
                  <a:srgbClr val="1F2937"/>
                </a:solidFill>
              </a:defRPr>
            </a:pPr>
            <a:r>
              <a:rPr b="1" dirty="0"/>
              <a:t> System Development Approach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  <a:defRPr sz="1700">
                <a:solidFill>
                  <a:srgbClr val="1F2937"/>
                </a:solidFill>
              </a:defRPr>
            </a:pPr>
            <a:r>
              <a:rPr b="1" dirty="0"/>
              <a:t> Algorithm &amp; Deployment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  <a:defRPr sz="1700">
                <a:solidFill>
                  <a:srgbClr val="1F2937"/>
                </a:solidFill>
              </a:defRPr>
            </a:pPr>
            <a:r>
              <a:rPr b="1" dirty="0"/>
              <a:t> Result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0749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8068" y="3836260"/>
            <a:ext cx="4617720" cy="136960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  <a:defRPr sz="1700">
                <a:solidFill>
                  <a:srgbClr val="1F2937"/>
                </a:solidFill>
              </a:defRPr>
            </a:pPr>
            <a:r>
              <a:rPr b="1" dirty="0"/>
              <a:t> Conclusion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  <a:defRPr sz="1700">
                <a:solidFill>
                  <a:srgbClr val="1F2937"/>
                </a:solidFill>
              </a:defRPr>
            </a:pPr>
            <a:r>
              <a:rPr b="1" dirty="0"/>
              <a:t> Future Scope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  <a:defRPr sz="1700">
                <a:solidFill>
                  <a:srgbClr val="1F2937"/>
                </a:solidFill>
              </a:defRPr>
            </a:pPr>
            <a:r>
              <a:rPr b="1" dirty="0"/>
              <a:t> References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  <a:defRPr sz="1700">
                <a:solidFill>
                  <a:srgbClr val="1F2937"/>
                </a:solidFill>
              </a:defRPr>
            </a:pPr>
            <a:r>
              <a:rPr b="1" dirty="0"/>
              <a:t> GitHub &amp; Deployment Link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PaperMind AI | GenAI Research Paper Assistant | 2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317040"/>
            <a:ext cx="1325880" cy="43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rPr dirty="0"/>
              <a:t>The challenge faced by students and researchers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10789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581912"/>
            <a:ext cx="229338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  <a:defRPr sz="1700" b="1">
                <a:solidFill>
                  <a:srgbClr val="7C3AED"/>
                </a:solidFill>
              </a:defRPr>
            </a:pPr>
            <a:r>
              <a:rPr sz="2400" dirty="0"/>
              <a:t>Key Problems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75688"/>
            <a:ext cx="10332720" cy="1862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F2937"/>
                </a:solidFill>
              </a:defRPr>
            </a:pPr>
            <a:r>
              <a:rPr b="1" dirty="0"/>
              <a:t>• Research papers are lengthy, technical, and difficult to understand quickly.</a:t>
            </a:r>
          </a:p>
          <a:p>
            <a:pPr>
              <a:spcAft>
                <a:spcPts val="1200"/>
              </a:spcAft>
              <a:defRPr sz="1700">
                <a:solidFill>
                  <a:srgbClr val="1F2937"/>
                </a:solidFill>
              </a:defRPr>
            </a:pPr>
            <a:r>
              <a:rPr b="1" dirty="0"/>
              <a:t>• Students spend significant time extracting key contributions, methodology, results, and limitations.</a:t>
            </a:r>
          </a:p>
          <a:p>
            <a:pPr>
              <a:spcAft>
                <a:spcPts val="1200"/>
              </a:spcAft>
              <a:defRPr sz="1700">
                <a:solidFill>
                  <a:srgbClr val="1F2937"/>
                </a:solidFill>
              </a:defRPr>
            </a:pPr>
            <a:r>
              <a:rPr b="1" dirty="0"/>
              <a:t>• General chatbots can hallucinate because they are not grounded in the uploaded paper.</a:t>
            </a:r>
          </a:p>
          <a:p>
            <a:pPr>
              <a:spcAft>
                <a:spcPts val="1200"/>
              </a:spcAft>
              <a:defRPr sz="1700">
                <a:solidFill>
                  <a:srgbClr val="1F2937"/>
                </a:solidFill>
              </a:defRPr>
            </a:pPr>
            <a:r>
              <a:rPr b="1" dirty="0"/>
              <a:t>• Users also need learning support such as quizzes, comparison, and presentation generation</a:t>
            </a:r>
            <a:r>
              <a:rPr lang="en-IN" b="1" dirty="0"/>
              <a:t> For Better Understanding</a:t>
            </a:r>
            <a:r>
              <a:rPr b="1" dirty="0"/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PaperMind AI | GenAI Research Paper Assistant | 3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317040"/>
            <a:ext cx="1325880" cy="43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3446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Proposed System /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A RAG-based research assistant for paper understanding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1600200" cy="65836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Upload PDF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48840" y="1993392"/>
            <a:ext cx="292608" cy="32004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359152" y="1828800"/>
            <a:ext cx="1600200" cy="65836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Extract Text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13632" y="1993392"/>
            <a:ext cx="292608" cy="32004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123944" y="1828800"/>
            <a:ext cx="1600200" cy="65836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Chunking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678424" y="1993392"/>
            <a:ext cx="292608" cy="32004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888736" y="1828800"/>
            <a:ext cx="1600200" cy="65836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Embeddings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443215" y="1993392"/>
            <a:ext cx="292608" cy="32004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653527" y="1828800"/>
            <a:ext cx="1600200" cy="65836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FAISS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208007" y="1993392"/>
            <a:ext cx="292608" cy="32004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418320" y="1828800"/>
            <a:ext cx="1600200" cy="658368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LLM Answer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5" y="3178473"/>
            <a:ext cx="1060704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3136392"/>
            <a:ext cx="284045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 sz="1700" b="1">
                <a:solidFill>
                  <a:srgbClr val="06B6D4"/>
                </a:solidFill>
              </a:defRPr>
            </a:pPr>
            <a:r>
              <a:rPr sz="2400" dirty="0"/>
              <a:t>Solution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630168"/>
            <a:ext cx="10149840" cy="17553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rPr b="1" i="1" dirty="0"/>
              <a:t>• The system accepts research paper PDFs and converts them into searchable chunks.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rPr b="1" i="1" dirty="0"/>
              <a:t>• FAISS retrieves relevant paper sections for each user query.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rPr b="1" i="1" dirty="0"/>
              <a:t>• Gemini, </a:t>
            </a:r>
            <a:r>
              <a:rPr b="1" i="1" dirty="0" err="1"/>
              <a:t>Groq</a:t>
            </a:r>
            <a:r>
              <a:rPr b="1" i="1" dirty="0"/>
              <a:t>, and </a:t>
            </a:r>
            <a:r>
              <a:rPr b="1" i="1" dirty="0" err="1"/>
              <a:t>Ollama</a:t>
            </a:r>
            <a:r>
              <a:rPr b="1" i="1" dirty="0"/>
              <a:t> are used in a hybrid fallback pipeline for reliable answer generation.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rPr b="1" i="1" dirty="0"/>
              <a:t>• Additional modules generate summaries, insights, quizzes, PPTs, comparisons, and paper recommendations</a:t>
            </a:r>
            <a:r>
              <a:rPr dirty="0"/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PaperMind AI | GenAI Research Paper Assistant | 4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317040"/>
            <a:ext cx="1325880" cy="4312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7BB6EF-0292-5512-B108-1D11ADF10251}"/>
              </a:ext>
            </a:extLst>
          </p:cNvPr>
          <p:cNvSpPr txBox="1"/>
          <p:nvPr/>
        </p:nvSpPr>
        <p:spPr>
          <a:xfrm>
            <a:off x="235284" y="1241647"/>
            <a:ext cx="3111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 err="1">
                <a:solidFill>
                  <a:schemeClr val="accent1"/>
                </a:solidFill>
              </a:rPr>
              <a:t>WorkFlow</a:t>
            </a:r>
            <a:endParaRPr lang="en-IN" sz="2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System Development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Technologies and modules used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474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-76797" y="1671209"/>
            <a:ext cx="435965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  <a:defRPr sz="1700" b="1">
                <a:solidFill>
                  <a:srgbClr val="7C3AED"/>
                </a:solidFill>
              </a:defRPr>
            </a:pPr>
            <a:r>
              <a:rPr lang="en-IN" sz="2400" dirty="0"/>
              <a:t>  Frontend &amp; Interaction Layer</a:t>
            </a:r>
          </a:p>
          <a:p>
            <a:pPr marL="342900" indent="-342900">
              <a:buFont typeface="Wingdings" panose="05000000000000000000" pitchFamily="2" charset="2"/>
              <a:buChar char="ü"/>
              <a:defRPr sz="1700" b="1">
                <a:solidFill>
                  <a:srgbClr val="7C3AED"/>
                </a:solidFill>
              </a:defRPr>
            </a:pPr>
            <a:endParaRPr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553329" y="1957262"/>
            <a:ext cx="3017520" cy="33586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endParaRPr lang="en-IN" dirty="0"/>
          </a:p>
          <a:p>
            <a:pPr>
              <a:lnSpc>
                <a:spcPct val="150000"/>
              </a:lnSpc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rPr lang="en-IN" b="1" dirty="0"/>
              <a:t>• </a:t>
            </a:r>
            <a:r>
              <a:rPr lang="en-IN" b="1" dirty="0" err="1"/>
              <a:t>Streamlit</a:t>
            </a:r>
            <a:r>
              <a:rPr lang="en-IN" b="1" dirty="0"/>
              <a:t>-based web interface for real-time interaction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rPr lang="en-IN" b="1" dirty="0"/>
              <a:t>• Multi-tab workflow: Insights, Quiz, PPT, Compare, Q&amp;A, Paper Finder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rPr lang="en-IN" b="1" dirty="0"/>
              <a:t>• Custom CSS for responsive dashboard-style UI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rPr lang="en-IN" b="1" dirty="0"/>
              <a:t>• PDF upload, result display, and file download support</a:t>
            </a:r>
            <a:endParaRPr b="1" dirty="0"/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474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7178" y="1671208"/>
            <a:ext cx="278249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  <a:defRPr sz="1700" b="1">
                <a:solidFill>
                  <a:srgbClr val="06B6D4"/>
                </a:solidFill>
              </a:defRPr>
            </a:pPr>
            <a:r>
              <a:rPr lang="en-IN" sz="2400" dirty="0"/>
              <a:t> Processing Layer</a:t>
            </a:r>
          </a:p>
          <a:p>
            <a:pPr marL="342900" indent="-342900">
              <a:buFont typeface="Wingdings" panose="05000000000000000000" pitchFamily="2" charset="2"/>
              <a:buChar char="ü"/>
              <a:defRPr sz="1700" b="1">
                <a:solidFill>
                  <a:srgbClr val="06B6D4"/>
                </a:solidFill>
              </a:defRPr>
            </a:pPr>
            <a:endParaRPr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4617720" y="1791571"/>
            <a:ext cx="3017520" cy="424346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endParaRPr lang="en-IN" b="1" dirty="0"/>
          </a:p>
          <a:p>
            <a:pPr>
              <a:lnSpc>
                <a:spcPct val="150000"/>
              </a:lnSpc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rPr lang="en-IN" b="1" dirty="0"/>
              <a:t>• </a:t>
            </a:r>
            <a:r>
              <a:rPr lang="en-IN" b="1" dirty="0" err="1"/>
              <a:t>PyPDF</a:t>
            </a:r>
            <a:r>
              <a:rPr lang="en-IN" b="1" dirty="0"/>
              <a:t>-based research paper text extraction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rPr lang="en-IN" b="1" dirty="0"/>
              <a:t>• Text cleaning to remove extra spaces and noisy formatting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rPr lang="en-IN" b="1" dirty="0"/>
              <a:t>• Fixed-size chunking for long document handling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rPr lang="en-IN" b="1" dirty="0"/>
              <a:t>• Sentence Transformer embeddings for semantic representation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rPr lang="en-IN" b="1" dirty="0"/>
              <a:t>• FAISS index creation for fast vector similarity search</a:t>
            </a:r>
            <a:endParaRPr b="1" dirty="0"/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474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95782" y="1675824"/>
            <a:ext cx="463223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  <a:defRPr sz="1700" b="1">
                <a:solidFill>
                  <a:srgbClr val="22C55E"/>
                </a:solidFill>
              </a:defRPr>
            </a:pPr>
            <a:r>
              <a:rPr lang="en-IN" sz="2400" b="1" dirty="0"/>
              <a:t>AI, Retrieval &amp; Generation Layer</a:t>
            </a:r>
            <a:endParaRPr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8282635" y="1899065"/>
            <a:ext cx="3017520" cy="447430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endParaRPr lang="en-IN" dirty="0"/>
          </a:p>
          <a:p>
            <a:pPr>
              <a:lnSpc>
                <a:spcPct val="150000"/>
              </a:lnSpc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rPr lang="en-IN" b="1" dirty="0"/>
              <a:t>• RAG pipeline retrieves top-k relevant chunks for user queries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rPr lang="en-IN" b="1" dirty="0"/>
              <a:t>• Gemini/</a:t>
            </a:r>
            <a:r>
              <a:rPr lang="en-IN" b="1" dirty="0" err="1"/>
              <a:t>Groq</a:t>
            </a:r>
            <a:r>
              <a:rPr lang="en-IN" b="1" dirty="0"/>
              <a:t>/</a:t>
            </a:r>
            <a:r>
              <a:rPr lang="en-IN" b="1" dirty="0" err="1"/>
              <a:t>Ollama</a:t>
            </a:r>
            <a:r>
              <a:rPr lang="en-IN" b="1" dirty="0"/>
              <a:t> used for LLM-based response generation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rPr lang="en-IN" b="1" dirty="0"/>
              <a:t>• Hybrid fallback improves reliability during quota or API failures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rPr lang="en-IN" b="1" dirty="0"/>
              <a:t>• Prompt engineering used for summaries, quizzes, PPT JSON, and comparison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rPr lang="en-IN" b="1" dirty="0"/>
              <a:t>• </a:t>
            </a:r>
            <a:r>
              <a:rPr lang="en-IN" b="1" dirty="0" err="1"/>
              <a:t>arXiv</a:t>
            </a:r>
            <a:r>
              <a:rPr lang="en-IN" b="1" dirty="0"/>
              <a:t> API integration enables topic-based paper discovery</a:t>
            </a:r>
            <a:endParaRPr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PaperMind AI | GenAI Research Paper Assistant | 5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317040"/>
            <a:ext cx="1325880" cy="43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Algorithm &amp;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End-to-end execution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54864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176041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 sz="1700" b="1">
                <a:solidFill>
                  <a:srgbClr val="7C3AED"/>
                </a:solidFill>
              </a:defRPr>
            </a:pPr>
            <a:r>
              <a:rPr sz="2400" dirty="0"/>
              <a:t>Algorithm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84248"/>
            <a:ext cx="5029200" cy="4125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  <a:r>
              <a:rPr sz="1600" b="1" dirty="0"/>
              <a:t>• Step 1: User uploads one or more research paper PDFs.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  <a:r>
              <a:rPr sz="1600" b="1" dirty="0"/>
              <a:t>• Step 2: Text is extracted, cleaned, and split into chunks.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  <a:r>
              <a:rPr sz="1600" b="1" dirty="0"/>
              <a:t>• Step 3: Chunk embeddings are generated using Sentence Transformers.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  <a:r>
              <a:rPr sz="1600" b="1" dirty="0"/>
              <a:t>• Step 4: FAISS stores vectors and retrieves top relevant chunks.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  <a:r>
              <a:rPr sz="1600" b="1" dirty="0"/>
              <a:t>• Step 5: Hybrid LLM pipeline generates answers and outputs.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  <a:r>
              <a:rPr sz="1600" b="1" dirty="0"/>
              <a:t>• Step 6: </a:t>
            </a:r>
            <a:r>
              <a:rPr sz="1600" b="1" dirty="0" err="1"/>
              <a:t>Streamlit</a:t>
            </a:r>
            <a:r>
              <a:rPr sz="1600" b="1" dirty="0"/>
              <a:t> displays insights, quiz, PPT, comparison, and Q&amp;A.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325880"/>
            <a:ext cx="50749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490472"/>
            <a:ext cx="338336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 sz="1700" b="1">
                <a:solidFill>
                  <a:srgbClr val="06B6D4"/>
                </a:solidFill>
              </a:defRPr>
            </a:pPr>
            <a:r>
              <a:rPr sz="2400" dirty="0"/>
              <a:t>Deployment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84248"/>
            <a:ext cx="4617720" cy="30172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v"/>
              <a:defRPr sz="1400">
                <a:solidFill>
                  <a:srgbClr val="1F2937"/>
                </a:solidFill>
              </a:defRPr>
            </a:pPr>
            <a:r>
              <a:rPr sz="1600" b="1" dirty="0"/>
              <a:t> Local command: </a:t>
            </a:r>
            <a:r>
              <a:rPr sz="1600" b="1" dirty="0" err="1"/>
              <a:t>streamlit</a:t>
            </a:r>
            <a:r>
              <a:rPr sz="1600" b="1" dirty="0"/>
              <a:t> run app.py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v"/>
              <a:defRPr sz="1400">
                <a:solidFill>
                  <a:srgbClr val="1F2937"/>
                </a:solidFill>
              </a:defRPr>
            </a:pPr>
            <a:r>
              <a:rPr sz="1600" b="1" dirty="0"/>
              <a:t> Environment variables stored in .env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v"/>
              <a:defRPr sz="1400">
                <a:solidFill>
                  <a:srgbClr val="1F2937"/>
                </a:solidFill>
              </a:defRPr>
            </a:pPr>
            <a:r>
              <a:rPr sz="1600" b="1" dirty="0"/>
              <a:t> Gemini used when available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v"/>
              <a:defRPr sz="1400">
                <a:solidFill>
                  <a:srgbClr val="1F2937"/>
                </a:solidFill>
              </a:defRPr>
            </a:pPr>
            <a:r>
              <a:rPr sz="1600" b="1" dirty="0"/>
              <a:t> </a:t>
            </a:r>
            <a:r>
              <a:rPr sz="1600" b="1" dirty="0" err="1"/>
              <a:t>Groq</a:t>
            </a:r>
            <a:r>
              <a:rPr sz="1600" b="1" dirty="0"/>
              <a:t> used as cloud fallback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v"/>
              <a:defRPr sz="1400">
                <a:solidFill>
                  <a:srgbClr val="1F2937"/>
                </a:solidFill>
              </a:defRPr>
            </a:pPr>
            <a:r>
              <a:rPr sz="1600" b="1" dirty="0"/>
              <a:t> </a:t>
            </a:r>
            <a:r>
              <a:rPr sz="1600" b="1" dirty="0" err="1"/>
              <a:t>Ollama</a:t>
            </a:r>
            <a:r>
              <a:rPr sz="1600" b="1" dirty="0"/>
              <a:t> used as local fallback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v"/>
              <a:defRPr sz="1400">
                <a:solidFill>
                  <a:srgbClr val="1F2937"/>
                </a:solidFill>
              </a:defRPr>
            </a:pPr>
            <a:r>
              <a:rPr sz="1600" b="1" dirty="0"/>
              <a:t> Can be deployed on </a:t>
            </a:r>
            <a:r>
              <a:rPr sz="1600" b="1" dirty="0" err="1"/>
              <a:t>Streamlit</a:t>
            </a:r>
            <a:r>
              <a:rPr sz="1600" b="1" dirty="0"/>
              <a:t> Cloud after securing keys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PaperMind AI | GenAI Research Paper Assistant | 6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317040"/>
            <a:ext cx="1325880" cy="43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147711"/>
            <a:ext cx="130337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rPr lang="en-IN" dirty="0"/>
              <a:t> </a:t>
            </a:r>
            <a:r>
              <a:rPr i="1" dirty="0"/>
              <a:t>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07969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rPr dirty="0"/>
              <a:t>Implemented features and outcomes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107899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5" y="4036906"/>
            <a:ext cx="238642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 sz="1700" b="1">
                <a:solidFill>
                  <a:srgbClr val="22C55E"/>
                </a:solidFill>
              </a:defRPr>
            </a:pPr>
            <a:r>
              <a:rPr sz="2400" dirty="0"/>
              <a:t>Project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498571"/>
            <a:ext cx="10332720" cy="195438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  <a:defRPr sz="1600">
                <a:solidFill>
                  <a:srgbClr val="1F2937"/>
                </a:solidFill>
              </a:defRPr>
            </a:pPr>
            <a:r>
              <a:rPr dirty="0"/>
              <a:t> </a:t>
            </a:r>
            <a:r>
              <a:rPr b="1" dirty="0"/>
              <a:t>Successfully uploads and processes research paper PDFs.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  <a:defRPr sz="1600">
                <a:solidFill>
                  <a:srgbClr val="1F2937"/>
                </a:solidFill>
              </a:defRPr>
            </a:pPr>
            <a:r>
              <a:rPr b="1" dirty="0"/>
              <a:t> Generates structured summaries, key contributions, methodology, results, and future scope.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  <a:defRPr sz="1600">
                <a:solidFill>
                  <a:srgbClr val="1F2937"/>
                </a:solidFill>
              </a:defRPr>
            </a:pPr>
            <a:r>
              <a:rPr b="1" dirty="0"/>
              <a:t> Provides RAG-based Q&amp;A with source chunks for transparency.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  <a:defRPr sz="1600">
                <a:solidFill>
                  <a:srgbClr val="1F2937"/>
                </a:solidFill>
              </a:defRPr>
            </a:pPr>
            <a:r>
              <a:rPr b="1" dirty="0"/>
              <a:t> Creates interactive MCQ quizzes with answer checking and score display.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  <a:defRPr sz="1600">
                <a:solidFill>
                  <a:srgbClr val="1F2937"/>
                </a:solidFill>
              </a:defRPr>
            </a:pPr>
            <a:r>
              <a:rPr b="1" dirty="0"/>
              <a:t> Generates PowerPoint drafts and compares two research papers.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  <a:defRPr sz="1600">
                <a:solidFill>
                  <a:srgbClr val="1F2937"/>
                </a:solidFill>
              </a:defRPr>
            </a:pPr>
            <a:r>
              <a:rPr b="1" dirty="0"/>
              <a:t> Finds related research papers using </a:t>
            </a:r>
            <a:r>
              <a:rPr b="1" dirty="0" err="1"/>
              <a:t>arXiv</a:t>
            </a:r>
            <a:r>
              <a:rPr b="1" dirty="0"/>
              <a:t> search.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PaperMind AI | GenAI Research Paper Assistant | 7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317040"/>
            <a:ext cx="1325880" cy="4312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58A07F-D75F-9D16-A828-D77D583C9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8800" y="384048"/>
            <a:ext cx="5856347" cy="37946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5D9F050-64C4-EC31-256B-D0AAD29E6B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66853" y="955441"/>
            <a:ext cx="5352520" cy="308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Summary of project achievement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554480"/>
            <a:ext cx="100584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2212848"/>
            <a:ext cx="9601200" cy="30469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  <a:defRPr sz="1800">
                <a:solidFill>
                  <a:srgbClr val="1F2937"/>
                </a:solidFill>
              </a:defRPr>
            </a:pPr>
            <a:r>
              <a:rPr lang="en-US" dirty="0"/>
              <a:t> </a:t>
            </a:r>
            <a:r>
              <a:rPr lang="en-US" b="1" dirty="0" err="1"/>
              <a:t>PaperMind</a:t>
            </a:r>
            <a:r>
              <a:rPr lang="en-US" b="1" dirty="0"/>
              <a:t> AI converts complex research papers into understandable and usable knowledge.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  <a:defRPr sz="1800">
                <a:solidFill>
                  <a:srgbClr val="1F2937"/>
                </a:solidFill>
              </a:defRPr>
            </a:pPr>
            <a:r>
              <a:rPr lang="en-US" b="1" dirty="0"/>
              <a:t> The RAG pipeline improves answer reliability by grounding responses in uploaded paper chunks.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  <a:defRPr sz="1800">
                <a:solidFill>
                  <a:srgbClr val="1F2937"/>
                </a:solidFill>
              </a:defRPr>
            </a:pPr>
            <a:r>
              <a:rPr lang="en-US" b="1" dirty="0"/>
              <a:t> Hybrid LLM fallback makes the system more robust against API quota or connectivity issues.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  <a:defRPr sz="1800">
                <a:solidFill>
                  <a:srgbClr val="1F2937"/>
                </a:solidFill>
              </a:defRPr>
            </a:pPr>
            <a:r>
              <a:rPr lang="en-US" b="1" dirty="0"/>
              <a:t> The application supports learning and productivity through summaries, quizzes, PPT generation, and comparison.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  <a:defRPr sz="1800">
                <a:solidFill>
                  <a:srgbClr val="1F2937"/>
                </a:solidFill>
              </a:defRPr>
            </a:pPr>
            <a:r>
              <a:rPr lang="en-IN" b="1" dirty="0"/>
              <a:t>Makes complex research papers easier for students to understand.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  <a:defRPr sz="1800">
                <a:solidFill>
                  <a:srgbClr val="1F2937"/>
                </a:solidFill>
              </a:defRPr>
            </a:pPr>
            <a:r>
              <a:rPr lang="en-IN" b="1" dirty="0"/>
              <a:t>Saves time in reading, summarizing, and preparing presentations.</a:t>
            </a:r>
            <a:endParaRPr lang="en-US" b="1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  <a:defRPr sz="1800">
                <a:solidFill>
                  <a:srgbClr val="1F2937"/>
                </a:solidFill>
              </a:defRPr>
            </a:pPr>
            <a:r>
              <a:rPr lang="en-US" b="1" dirty="0"/>
              <a:t>It makes academic knowledge more accessible, supports inclusive learning, and encourages students to engage with research and innovation.</a:t>
            </a:r>
            <a:endParaRPr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PaperMind AI | GenAI Research Paper Assistant | 8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317040"/>
            <a:ext cx="1325880" cy="43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Possible improvements and extensions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106070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490472"/>
            <a:ext cx="339458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  <a:defRPr sz="1700" b="1">
                <a:solidFill>
                  <a:srgbClr val="06B6D4"/>
                </a:solidFill>
              </a:defRPr>
            </a:pPr>
            <a:r>
              <a:rPr sz="2400" dirty="0"/>
              <a:t>Future Enhancements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84248"/>
            <a:ext cx="10149840" cy="26479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rPr b="1" dirty="0"/>
              <a:t>• Add page-number citations and section-level references.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rPr b="1" dirty="0"/>
              <a:t>• Improve PDF extraction using </a:t>
            </a:r>
            <a:r>
              <a:rPr b="1" dirty="0" err="1"/>
              <a:t>PyMuPDF</a:t>
            </a:r>
            <a:r>
              <a:rPr b="1" dirty="0"/>
              <a:t> for tables, figures, and equations.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rPr b="1" dirty="0"/>
              <a:t>• Add permanent chat history and user authentication.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rPr b="1" dirty="0"/>
              <a:t>• Improve PPT generation with advanced templates, charts, and visual extraction.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rPr b="1" dirty="0"/>
              <a:t>• Deploy on cloud with secure API key management.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600">
                <a:solidFill>
                  <a:srgbClr val="1F2937"/>
                </a:solidFill>
              </a:defRPr>
            </a:pPr>
            <a:r>
              <a:rPr b="1" dirty="0"/>
              <a:t>• Support more academic databases such as Semantic Scholar and </a:t>
            </a:r>
            <a:r>
              <a:rPr b="1" dirty="0" err="1"/>
              <a:t>CrossRef</a:t>
            </a:r>
            <a:r>
              <a:rPr b="1" dirty="0"/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PaperMind AI | GenAI Research Paper Assistant | 9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317040"/>
            <a:ext cx="1325880" cy="43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Tools, libraries and platforms used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106070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490472"/>
            <a:ext cx="282404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7C3AED"/>
                </a:solidFill>
              </a:defRPr>
            </a:pPr>
            <a:r>
              <a:rPr sz="2400" i="1" dirty="0"/>
              <a:t>Reference Platforms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0927" y="2024867"/>
            <a:ext cx="10149840" cy="3358612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v"/>
              <a:defRPr sz="1500">
                <a:solidFill>
                  <a:srgbClr val="1F2937"/>
                </a:solidFill>
              </a:defRPr>
            </a:pPr>
            <a:r>
              <a:rPr lang="en-IN" b="1" dirty="0" err="1"/>
              <a:t>Streamlit</a:t>
            </a:r>
            <a:r>
              <a:rPr lang="en-IN" b="1" dirty="0"/>
              <a:t> – Python framework for web applications    </a:t>
            </a:r>
            <a:r>
              <a:rPr lang="en-IN" b="1" dirty="0">
                <a:hlinkClick r:id="rId2"/>
              </a:rPr>
              <a:t>https://streamlit.io/</a:t>
            </a:r>
            <a:endParaRPr lang="en-IN" b="1" dirty="0"/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v"/>
              <a:defRPr sz="1500">
                <a:solidFill>
                  <a:srgbClr val="1F2937"/>
                </a:solidFill>
              </a:defRPr>
            </a:pPr>
            <a:r>
              <a:rPr lang="en-IN" b="1" dirty="0"/>
              <a:t> FAISS – Vector similarity search library   </a:t>
            </a:r>
            <a:r>
              <a:rPr lang="en-IN" b="1" dirty="0">
                <a:hlinkClick r:id="rId3"/>
              </a:rPr>
              <a:t>https://faiss.ai/</a:t>
            </a:r>
            <a:endParaRPr lang="en-IN" b="1" dirty="0"/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v"/>
              <a:defRPr sz="1500">
                <a:solidFill>
                  <a:srgbClr val="1F2937"/>
                </a:solidFill>
              </a:defRPr>
            </a:pPr>
            <a:r>
              <a:rPr lang="en-IN" b="1" dirty="0"/>
              <a:t> Sentence Transformers – Embedding generation   </a:t>
            </a:r>
            <a:r>
              <a:rPr lang="en-IN" b="1" dirty="0">
                <a:hlinkClick r:id="rId4"/>
              </a:rPr>
              <a:t>https://sbert.net/</a:t>
            </a:r>
            <a:endParaRPr lang="en-IN" b="1" dirty="0"/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v"/>
              <a:defRPr sz="1500">
                <a:solidFill>
                  <a:srgbClr val="1F2937"/>
                </a:solidFill>
              </a:defRPr>
            </a:pPr>
            <a:r>
              <a:rPr lang="en-IN" b="1" dirty="0"/>
              <a:t> Google Gemini API – LLM generation   </a:t>
            </a:r>
            <a:r>
              <a:rPr lang="en-IN" b="1" dirty="0">
                <a:hlinkClick r:id="rId5"/>
              </a:rPr>
              <a:t>https://ai.google.dev/gemini-api/docs</a:t>
            </a:r>
            <a:endParaRPr lang="en-IN" b="1" dirty="0"/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v"/>
              <a:defRPr sz="1500">
                <a:solidFill>
                  <a:srgbClr val="1F2937"/>
                </a:solidFill>
              </a:defRPr>
            </a:pPr>
            <a:r>
              <a:rPr lang="en-IN" b="1" dirty="0"/>
              <a:t> </a:t>
            </a:r>
            <a:r>
              <a:rPr lang="en-IN" b="1" dirty="0" err="1"/>
              <a:t>Groq</a:t>
            </a:r>
            <a:r>
              <a:rPr lang="en-IN" b="1" dirty="0"/>
              <a:t> API – Fast LLM inference  </a:t>
            </a:r>
            <a:r>
              <a:rPr lang="en-IN" b="1" dirty="0">
                <a:hlinkClick r:id="rId6"/>
              </a:rPr>
              <a:t>https://console.groq.com/docs/overview</a:t>
            </a:r>
            <a:endParaRPr lang="en-IN" b="1" dirty="0"/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v"/>
              <a:defRPr sz="1500">
                <a:solidFill>
                  <a:srgbClr val="1F2937"/>
                </a:solidFill>
              </a:defRPr>
            </a:pPr>
            <a:r>
              <a:rPr lang="en-IN" b="1" dirty="0"/>
              <a:t> </a:t>
            </a:r>
            <a:r>
              <a:rPr lang="en-IN" b="1" dirty="0" err="1"/>
              <a:t>Ollama</a:t>
            </a:r>
            <a:r>
              <a:rPr lang="en-IN" b="1" dirty="0"/>
              <a:t> – Local LLM execution  </a:t>
            </a:r>
            <a:r>
              <a:rPr lang="en-IN" b="1" dirty="0">
                <a:hlinkClick r:id="rId7"/>
              </a:rPr>
              <a:t>https://ollama.com/</a:t>
            </a:r>
            <a:endParaRPr lang="en-IN" b="1" dirty="0"/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v"/>
              <a:defRPr sz="1500">
                <a:solidFill>
                  <a:srgbClr val="1F2937"/>
                </a:solidFill>
              </a:defRPr>
            </a:pPr>
            <a:r>
              <a:rPr lang="en-IN" b="1" dirty="0"/>
              <a:t> </a:t>
            </a:r>
            <a:r>
              <a:rPr lang="en-IN" b="1" dirty="0" err="1"/>
              <a:t>arXiv</a:t>
            </a:r>
            <a:r>
              <a:rPr lang="en-IN" b="1" dirty="0"/>
              <a:t> API – Research paper discovery  </a:t>
            </a:r>
            <a:r>
              <a:rPr lang="en-IN" b="1" dirty="0">
                <a:hlinkClick r:id="rId8"/>
              </a:rPr>
              <a:t>https://info.arxiv.org/help/api/user-manual.html</a:t>
            </a:r>
            <a:endParaRPr lang="en-IN" b="1" dirty="0"/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v"/>
              <a:defRPr sz="1500">
                <a:solidFill>
                  <a:srgbClr val="1F2937"/>
                </a:solidFill>
              </a:defRPr>
            </a:pPr>
            <a:r>
              <a:rPr lang="en-IN" b="1" dirty="0"/>
              <a:t> python-pptx – PowerPoint generation  </a:t>
            </a:r>
            <a:r>
              <a:rPr lang="en-IN" b="1" dirty="0">
                <a:hlinkClick r:id="rId9"/>
              </a:rPr>
              <a:t>https://python-pptx.readthedocs.io/</a:t>
            </a:r>
            <a:endParaRPr lang="en-IN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PaperMind AI | GenAI Research Paper Assistant | 10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37215" y="6317040"/>
            <a:ext cx="1325880" cy="43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GitHub &amp; Deployment Link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Project sharing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508760"/>
            <a:ext cx="99669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1673351"/>
            <a:ext cx="184300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2C55E"/>
                </a:solidFill>
              </a:defRPr>
            </a:pPr>
            <a:r>
              <a:rPr sz="2400" dirty="0"/>
              <a:t>Project Links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372082"/>
            <a:ext cx="9509760" cy="3693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• </a:t>
            </a:r>
            <a:r>
              <a:rPr b="1" dirty="0"/>
              <a:t>GitHub Link</a:t>
            </a:r>
            <a:r>
              <a:rPr lang="en-IN" b="1" dirty="0"/>
              <a:t> </a:t>
            </a:r>
            <a:r>
              <a:rPr lang="en-IN" b="1" i="1" dirty="0"/>
              <a:t>:</a:t>
            </a:r>
            <a:r>
              <a:rPr lang="en-IN" b="1" dirty="0"/>
              <a:t> </a:t>
            </a:r>
            <a:r>
              <a:rPr lang="en-IN" b="1" dirty="0">
                <a:hlinkClick r:id="rId2"/>
              </a:rPr>
              <a:t>https://github.com/Aritra-Dey2004/PaperMind-AI</a:t>
            </a:r>
            <a:r>
              <a:rPr b="1" dirty="0">
                <a:hlinkClick r:id="rId2"/>
              </a:rPr>
              <a:t> </a:t>
            </a:r>
            <a:endParaRPr lang="en-IN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PaperMind AI | GenAI Research Paper Assistant | 11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215" y="6317040"/>
            <a:ext cx="1325880" cy="43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909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2057400"/>
            <a:ext cx="8503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7C3AED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PaperMind AI | GenAI Research Paper Assistant | 12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317040"/>
            <a:ext cx="1325880" cy="43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1183</TotalTime>
  <Words>1035</Words>
  <Application>Microsoft Office PowerPoint</Application>
  <PresentationFormat>Widescreen</PresentationFormat>
  <Paragraphs>130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Franklin Gothic Book</vt:lpstr>
      <vt:lpstr>Franklin Gothic Demi</vt:lpstr>
      <vt:lpstr>Wingdings</vt:lpstr>
      <vt:lpstr>Wingdings 2</vt:lpstr>
      <vt:lpstr>DividendVTI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Aritra Dey</cp:lastModifiedBy>
  <cp:revision>46</cp:revision>
  <dcterms:created xsi:type="dcterms:W3CDTF">2021-05-26T16:50:10Z</dcterms:created>
  <dcterms:modified xsi:type="dcterms:W3CDTF">2026-06-16T09:10:37Z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